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82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89949" y="0"/>
            <a:ext cx="10286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2116" y="1656230"/>
            <a:ext cx="13998575" cy="993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4257" y="3393593"/>
            <a:ext cx="17231995" cy="2828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294422" y="9737490"/>
            <a:ext cx="1049020" cy="316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502763" y="9737490"/>
            <a:ext cx="885825" cy="316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onius.com/en/help-center/solar-energy/products/monitoring-control/solutions/open-interfaces/fronius-solar-api-json-" TargetMode="External"/><Relationship Id="rId13" Type="http://schemas.openxmlformats.org/officeDocument/2006/relationships/image" Target="../media/image12.png"/><Relationship Id="rId3" Type="http://schemas.openxmlformats.org/officeDocument/2006/relationships/image" Target="../media/image8.jpg"/><Relationship Id="rId7" Type="http://schemas.openxmlformats.org/officeDocument/2006/relationships/hyperlink" Target="https://www.se.com/ww/en/about-us/newsroom/news/press-releases/schneider-electric-launches-ai-powered-home-energy-management-feature-for-wiser-home-66d6bac4d6b0eff3580dc113/" TargetMode="External"/><Relationship Id="rId12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solaredge.com/en/solaredge-one" TargetMode="External"/><Relationship Id="rId11" Type="http://schemas.openxmlformats.org/officeDocument/2006/relationships/hyperlink" Target="https://cea.nic.in/cdm-co2-baseline-database/" TargetMode="External"/><Relationship Id="rId5" Type="http://schemas.openxmlformats.org/officeDocument/2006/relationships/image" Target="../media/image7.jpg"/><Relationship Id="rId10" Type="http://schemas.openxmlformats.org/officeDocument/2006/relationships/hyperlink" Target="https://docs.espressif.com/projects/esp-mqtt/en/latest/esp32/" TargetMode="External"/><Relationship Id="rId4" Type="http://schemas.openxmlformats.org/officeDocument/2006/relationships/image" Target="../media/image6.jpg"/><Relationship Id="rId9" Type="http://schemas.openxmlformats.org/officeDocument/2006/relationships/hyperlink" Target="https://www.shelly.com/products/shelly-pro-em-50" TargetMode="External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5912" y="6566576"/>
            <a:ext cx="991869" cy="0"/>
          </a:xfrm>
          <a:custGeom>
            <a:avLst/>
            <a:gdLst/>
            <a:ahLst/>
            <a:cxnLst/>
            <a:rect l="l" t="t" r="r" b="b"/>
            <a:pathLst>
              <a:path w="991869">
                <a:moveTo>
                  <a:pt x="0" y="0"/>
                </a:moveTo>
                <a:lnTo>
                  <a:pt x="991268" y="0"/>
                </a:lnTo>
              </a:path>
            </a:pathLst>
          </a:custGeom>
          <a:ln w="95249">
            <a:solidFill>
              <a:srgbClr val="FF5C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09905" y="0"/>
            <a:ext cx="17194530" cy="10287000"/>
            <a:chOff x="509905" y="0"/>
            <a:chExt cx="17194530" cy="1028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89950" y="0"/>
              <a:ext cx="10286999" cy="10286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62222" y="3795547"/>
              <a:ext cx="1966595" cy="0"/>
            </a:xfrm>
            <a:custGeom>
              <a:avLst/>
              <a:gdLst/>
              <a:ahLst/>
              <a:cxnLst/>
              <a:rect l="l" t="t" r="r" b="b"/>
              <a:pathLst>
                <a:path w="1966595">
                  <a:moveTo>
                    <a:pt x="0" y="0"/>
                  </a:moveTo>
                  <a:lnTo>
                    <a:pt x="1966217" y="0"/>
                  </a:lnTo>
                </a:path>
              </a:pathLst>
            </a:custGeom>
            <a:ln w="40211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6038812" y="1409702"/>
            <a:ext cx="6078770" cy="222368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350" spc="145" dirty="0"/>
              <a:t>BUILD</a:t>
            </a:r>
            <a:endParaRPr sz="14350" dirty="0"/>
          </a:p>
        </p:txBody>
      </p:sp>
      <p:sp>
        <p:nvSpPr>
          <p:cNvPr id="9" name="object 9"/>
          <p:cNvSpPr txBox="1"/>
          <p:nvPr/>
        </p:nvSpPr>
        <p:spPr>
          <a:xfrm>
            <a:off x="8234210" y="3405218"/>
            <a:ext cx="1574896" cy="65026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b="1" spc="-20" dirty="0">
                <a:solidFill>
                  <a:srgbClr val="8625B4"/>
                </a:solidFill>
                <a:latin typeface="Tahoma"/>
                <a:cs typeface="Tahoma"/>
              </a:rPr>
              <a:t>WITH</a:t>
            </a:r>
            <a:endParaRPr sz="40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82585" y="3448648"/>
            <a:ext cx="11049000" cy="26411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50" b="1" spc="-720" dirty="0">
                <a:solidFill>
                  <a:srgbClr val="FF5C1F"/>
                </a:solidFill>
                <a:latin typeface="Nirmala UI"/>
                <a:cs typeface="Nirmala UI"/>
              </a:rPr>
              <a:t>भारत</a:t>
            </a:r>
            <a:r>
              <a:rPr sz="17050" b="1" spc="27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7050" b="1" spc="-25" dirty="0">
                <a:solidFill>
                  <a:srgbClr val="FF5C1F"/>
                </a:solidFill>
                <a:latin typeface="Tahoma"/>
                <a:cs typeface="Tahoma"/>
              </a:rPr>
              <a:t>2.0</a:t>
            </a:r>
            <a:endParaRPr sz="17050" dirty="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99383" y="71388"/>
            <a:ext cx="16639540" cy="6340475"/>
            <a:chOff x="899383" y="71388"/>
            <a:chExt cx="16639540" cy="6340475"/>
          </a:xfrm>
        </p:grpSpPr>
        <p:sp>
          <p:nvSpPr>
            <p:cNvPr id="12" name="object 12"/>
            <p:cNvSpPr/>
            <p:nvPr/>
          </p:nvSpPr>
          <p:spPr>
            <a:xfrm>
              <a:off x="10053791" y="3815654"/>
              <a:ext cx="1966595" cy="0"/>
            </a:xfrm>
            <a:custGeom>
              <a:avLst/>
              <a:gdLst/>
              <a:ahLst/>
              <a:cxnLst/>
              <a:rect l="l" t="t" r="r" b="b"/>
              <a:pathLst>
                <a:path w="1966595">
                  <a:moveTo>
                    <a:pt x="0" y="0"/>
                  </a:moveTo>
                  <a:lnTo>
                    <a:pt x="1966217" y="0"/>
                  </a:lnTo>
                </a:path>
              </a:pathLst>
            </a:custGeom>
            <a:ln w="40211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41909" y="6169789"/>
              <a:ext cx="217905" cy="21790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15467" y="6184809"/>
              <a:ext cx="222015" cy="2265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89180" y="6189514"/>
              <a:ext cx="217905" cy="21790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9383" y="166056"/>
              <a:ext cx="1607009" cy="162392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905809" y="5691354"/>
            <a:ext cx="6068060" cy="3404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b="1" spc="-60" dirty="0">
                <a:solidFill>
                  <a:srgbClr val="212121"/>
                </a:solidFill>
                <a:latin typeface="Verdana"/>
                <a:cs typeface="Verdana"/>
              </a:rPr>
              <a:t>N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40" dirty="0">
                <a:solidFill>
                  <a:srgbClr val="212121"/>
                </a:solidFill>
                <a:latin typeface="Verdana"/>
                <a:cs typeface="Verdana"/>
              </a:rPr>
              <a:t>A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165" dirty="0">
                <a:solidFill>
                  <a:srgbClr val="212121"/>
                </a:solidFill>
                <a:latin typeface="Verdana"/>
                <a:cs typeface="Verdana"/>
              </a:rPr>
              <a:t>T</a:t>
            </a:r>
            <a:r>
              <a:rPr sz="2100" b="1" spc="-18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475" dirty="0">
                <a:solidFill>
                  <a:srgbClr val="212121"/>
                </a:solidFill>
                <a:latin typeface="Verdana"/>
                <a:cs typeface="Verdana"/>
              </a:rPr>
              <a:t>I</a:t>
            </a:r>
            <a:r>
              <a:rPr sz="2100" b="1" spc="-18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12121"/>
                </a:solidFill>
                <a:latin typeface="Verdana"/>
                <a:cs typeface="Verdana"/>
              </a:rPr>
              <a:t>O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60" dirty="0">
                <a:solidFill>
                  <a:srgbClr val="212121"/>
                </a:solidFill>
                <a:latin typeface="Verdana"/>
                <a:cs typeface="Verdana"/>
              </a:rPr>
              <a:t>N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40" dirty="0">
                <a:solidFill>
                  <a:srgbClr val="212121"/>
                </a:solidFill>
                <a:latin typeface="Verdana"/>
                <a:cs typeface="Verdana"/>
              </a:rPr>
              <a:t>A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12121"/>
                </a:solidFill>
                <a:latin typeface="Verdana"/>
                <a:cs typeface="Verdana"/>
              </a:rPr>
              <a:t>L</a:t>
            </a:r>
            <a:r>
              <a:rPr sz="2100" b="1" spc="105" dirty="0">
                <a:solidFill>
                  <a:srgbClr val="212121"/>
                </a:solidFill>
                <a:latin typeface="Verdana"/>
                <a:cs typeface="Verdana"/>
              </a:rPr>
              <a:t>  </a:t>
            </a:r>
            <a:r>
              <a:rPr sz="2100" b="1" spc="-75" dirty="0">
                <a:solidFill>
                  <a:srgbClr val="212121"/>
                </a:solidFill>
                <a:latin typeface="Verdana"/>
                <a:cs typeface="Verdana"/>
              </a:rPr>
              <a:t>L</a:t>
            </a:r>
            <a:r>
              <a:rPr sz="2100" b="1" spc="-18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20" dirty="0">
                <a:solidFill>
                  <a:srgbClr val="212121"/>
                </a:solidFill>
                <a:latin typeface="Verdana"/>
                <a:cs typeface="Verdana"/>
              </a:rPr>
              <a:t>E</a:t>
            </a:r>
            <a:r>
              <a:rPr sz="2100" b="1" spc="-18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55" dirty="0">
                <a:solidFill>
                  <a:srgbClr val="212121"/>
                </a:solidFill>
                <a:latin typeface="Verdana"/>
                <a:cs typeface="Verdana"/>
              </a:rPr>
              <a:t>V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20" dirty="0">
                <a:solidFill>
                  <a:srgbClr val="212121"/>
                </a:solidFill>
                <a:latin typeface="Verdana"/>
                <a:cs typeface="Verdana"/>
              </a:rPr>
              <a:t>E</a:t>
            </a:r>
            <a:r>
              <a:rPr sz="2100" b="1" spc="-18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12121"/>
                </a:solidFill>
                <a:latin typeface="Verdana"/>
                <a:cs typeface="Verdana"/>
              </a:rPr>
              <a:t>L</a:t>
            </a:r>
            <a:r>
              <a:rPr sz="2100" b="1" spc="110" dirty="0">
                <a:solidFill>
                  <a:srgbClr val="212121"/>
                </a:solidFill>
                <a:latin typeface="Verdana"/>
                <a:cs typeface="Verdana"/>
              </a:rPr>
              <a:t>  </a:t>
            </a:r>
            <a:r>
              <a:rPr sz="2100" b="1" spc="-45" dirty="0">
                <a:solidFill>
                  <a:srgbClr val="212121"/>
                </a:solidFill>
                <a:latin typeface="Verdana"/>
                <a:cs typeface="Verdana"/>
              </a:rPr>
              <a:t>H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40" dirty="0">
                <a:solidFill>
                  <a:srgbClr val="212121"/>
                </a:solidFill>
                <a:latin typeface="Verdana"/>
                <a:cs typeface="Verdana"/>
              </a:rPr>
              <a:t>A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12121"/>
                </a:solidFill>
                <a:latin typeface="Verdana"/>
                <a:cs typeface="Verdana"/>
              </a:rPr>
              <a:t>C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90" dirty="0">
                <a:solidFill>
                  <a:srgbClr val="212121"/>
                </a:solidFill>
                <a:latin typeface="Verdana"/>
                <a:cs typeface="Verdana"/>
              </a:rPr>
              <a:t>K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40" dirty="0">
                <a:solidFill>
                  <a:srgbClr val="212121"/>
                </a:solidFill>
                <a:latin typeface="Verdana"/>
                <a:cs typeface="Verdana"/>
              </a:rPr>
              <a:t>A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165" dirty="0">
                <a:solidFill>
                  <a:srgbClr val="212121"/>
                </a:solidFill>
                <a:latin typeface="Verdana"/>
                <a:cs typeface="Verdana"/>
              </a:rPr>
              <a:t>T</a:t>
            </a:r>
            <a:r>
              <a:rPr sz="2100" b="1" spc="-18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45" dirty="0">
                <a:solidFill>
                  <a:srgbClr val="212121"/>
                </a:solidFill>
                <a:latin typeface="Verdana"/>
                <a:cs typeface="Verdana"/>
              </a:rPr>
              <a:t>H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12121"/>
                </a:solidFill>
                <a:latin typeface="Verdana"/>
                <a:cs typeface="Verdana"/>
              </a:rPr>
              <a:t>O</a:t>
            </a:r>
            <a:r>
              <a:rPr sz="2100" b="1" spc="-19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100" b="1" spc="-50" dirty="0">
                <a:solidFill>
                  <a:srgbClr val="212121"/>
                </a:solidFill>
                <a:latin typeface="Verdana"/>
                <a:cs typeface="Verdana"/>
              </a:rPr>
              <a:t>N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भा</a:t>
            </a:r>
            <a:r>
              <a:rPr sz="1850" b="1" spc="-13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/>
                <a:cs typeface="Nirmala UI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त</a:t>
            </a:r>
            <a:r>
              <a:rPr sz="1850" b="1" spc="-10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Tahoma"/>
                <a:cs typeface="Tahoma"/>
              </a:rPr>
              <a:t>2</a:t>
            </a:r>
            <a:r>
              <a:rPr sz="1850" b="1" spc="-9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-95" dirty="0">
                <a:solidFill>
                  <a:srgbClr val="FF5C1F"/>
                </a:solidFill>
                <a:latin typeface="Tahoma"/>
                <a:cs typeface="Tahoma"/>
              </a:rPr>
              <a:t>.</a:t>
            </a:r>
            <a:r>
              <a:rPr sz="1850" b="1" spc="-10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40" dirty="0">
                <a:solidFill>
                  <a:srgbClr val="FF5C1F"/>
                </a:solidFill>
                <a:latin typeface="Tahoma"/>
                <a:cs typeface="Tahoma"/>
              </a:rPr>
              <a:t>0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45911" y="6601463"/>
            <a:ext cx="14692481" cy="3027752"/>
          </a:xfrm>
          <a:prstGeom prst="rect">
            <a:avLst/>
          </a:prstGeom>
        </p:spPr>
        <p:txBody>
          <a:bodyPr vert="horz" wrap="square" lIns="0" tIns="21717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710"/>
              </a:spcBef>
            </a:pPr>
            <a:r>
              <a:rPr sz="2500" b="1" spc="-195" dirty="0">
                <a:solidFill>
                  <a:srgbClr val="212121"/>
                </a:solidFill>
                <a:latin typeface="Verdana"/>
                <a:cs typeface="Verdana"/>
              </a:rPr>
              <a:t>T</a:t>
            </a:r>
            <a:r>
              <a:rPr sz="2500" b="1" spc="-40" dirty="0">
                <a:solidFill>
                  <a:srgbClr val="212121"/>
                </a:solidFill>
                <a:latin typeface="Verdana"/>
                <a:cs typeface="Verdana"/>
              </a:rPr>
              <a:t>E</a:t>
            </a:r>
            <a:r>
              <a:rPr sz="2500" b="1" spc="-65" dirty="0">
                <a:solidFill>
                  <a:srgbClr val="212121"/>
                </a:solidFill>
                <a:latin typeface="Verdana"/>
                <a:cs typeface="Verdana"/>
              </a:rPr>
              <a:t>A</a:t>
            </a:r>
            <a:r>
              <a:rPr sz="2500" b="1" dirty="0">
                <a:solidFill>
                  <a:srgbClr val="212121"/>
                </a:solidFill>
                <a:latin typeface="Verdana"/>
                <a:cs typeface="Verdana"/>
              </a:rPr>
              <a:t>M</a:t>
            </a:r>
            <a:r>
              <a:rPr lang="en-US" sz="2500" b="1" spc="1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500" b="1" spc="-90" dirty="0">
                <a:solidFill>
                  <a:srgbClr val="212121"/>
                </a:solidFill>
                <a:latin typeface="Verdana"/>
                <a:cs typeface="Verdana"/>
              </a:rPr>
              <a:t>N</a:t>
            </a:r>
            <a:r>
              <a:rPr sz="2500" b="1" spc="-65" dirty="0">
                <a:solidFill>
                  <a:srgbClr val="212121"/>
                </a:solidFill>
                <a:latin typeface="Verdana"/>
                <a:cs typeface="Verdana"/>
              </a:rPr>
              <a:t>A</a:t>
            </a:r>
            <a:r>
              <a:rPr sz="2500" b="1" dirty="0">
                <a:solidFill>
                  <a:srgbClr val="212121"/>
                </a:solidFill>
                <a:latin typeface="Verdana"/>
                <a:cs typeface="Verdana"/>
              </a:rPr>
              <a:t>M</a:t>
            </a:r>
            <a:r>
              <a:rPr sz="2500" b="1" spc="-40" dirty="0">
                <a:solidFill>
                  <a:srgbClr val="212121"/>
                </a:solidFill>
                <a:latin typeface="Verdana"/>
                <a:cs typeface="Verdana"/>
              </a:rPr>
              <a:t>E</a:t>
            </a:r>
            <a:r>
              <a:rPr lang="en-US" sz="2500" b="1" spc="-215" dirty="0">
                <a:solidFill>
                  <a:srgbClr val="212121"/>
                </a:solidFill>
                <a:latin typeface="Verdana"/>
                <a:cs typeface="Verdana"/>
              </a:rPr>
              <a:t>:</a:t>
            </a:r>
            <a:r>
              <a:rPr lang="en-US" sz="2500" b="1" spc="-440" dirty="0">
                <a:solidFill>
                  <a:srgbClr val="212121"/>
                </a:solidFill>
                <a:latin typeface="Verdana"/>
                <a:cs typeface="Verdana"/>
              </a:rPr>
              <a:t>  </a:t>
            </a:r>
            <a:r>
              <a:rPr lang="en-US" sz="2500" b="1" spc="-440" dirty="0">
                <a:solidFill>
                  <a:srgbClr val="7030A0"/>
                </a:solidFill>
                <a:latin typeface="Verdana"/>
                <a:cs typeface="Verdana"/>
              </a:rPr>
              <a:t>C o d e  W a r </a:t>
            </a:r>
            <a:r>
              <a:rPr lang="en-US" sz="2500" b="1" spc="-440" dirty="0" err="1">
                <a:solidFill>
                  <a:srgbClr val="7030A0"/>
                </a:solidFill>
                <a:latin typeface="Verdana"/>
                <a:cs typeface="Verdana"/>
              </a:rPr>
              <a:t>r</a:t>
            </a:r>
            <a:r>
              <a:rPr lang="en-US" sz="2500" b="1" spc="-44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lang="en-US" sz="2500" b="1" spc="-440" dirty="0" err="1">
                <a:solidFill>
                  <a:srgbClr val="7030A0"/>
                </a:solidFill>
                <a:latin typeface="Verdana"/>
                <a:cs typeface="Verdana"/>
              </a:rPr>
              <a:t>i</a:t>
            </a:r>
            <a:r>
              <a:rPr lang="en-US" sz="2500" b="1" spc="-440" dirty="0">
                <a:solidFill>
                  <a:srgbClr val="7030A0"/>
                </a:solidFill>
                <a:latin typeface="Verdana"/>
                <a:cs typeface="Verdana"/>
              </a:rPr>
              <a:t> a r  2.O</a:t>
            </a:r>
          </a:p>
          <a:p>
            <a:pPr marL="12700" algn="l">
              <a:lnSpc>
                <a:spcPct val="100000"/>
              </a:lnSpc>
              <a:spcBef>
                <a:spcPts val="1710"/>
              </a:spcBef>
            </a:pPr>
            <a:r>
              <a:rPr lang="en-US" sz="2500" b="1" spc="-44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/>
                <a:cs typeface="Verdana"/>
              </a:rPr>
              <a:t>T E A M  L E A D E R :  </a:t>
            </a:r>
            <a:r>
              <a:rPr lang="en-US" sz="2500" b="1" spc="-440" dirty="0">
                <a:solidFill>
                  <a:srgbClr val="7030A0"/>
                </a:solidFill>
                <a:latin typeface="Verdana"/>
                <a:cs typeface="Verdana"/>
              </a:rPr>
              <a:t>R a m a n  K u m a r  T </a:t>
            </a:r>
            <a:r>
              <a:rPr lang="en-US" sz="2500" b="1" spc="-440" dirty="0" err="1">
                <a:solidFill>
                  <a:srgbClr val="7030A0"/>
                </a:solidFill>
                <a:latin typeface="Verdana"/>
                <a:cs typeface="Verdana"/>
              </a:rPr>
              <a:t>i</a:t>
            </a:r>
            <a:r>
              <a:rPr lang="en-US" sz="2500" b="1" spc="-440" dirty="0">
                <a:solidFill>
                  <a:srgbClr val="7030A0"/>
                </a:solidFill>
                <a:latin typeface="Verdana"/>
                <a:cs typeface="Verdana"/>
              </a:rPr>
              <a:t> w a r </a:t>
            </a:r>
            <a:r>
              <a:rPr lang="en-US" sz="2500" b="1" spc="-440" dirty="0" err="1">
                <a:solidFill>
                  <a:srgbClr val="7030A0"/>
                </a:solidFill>
                <a:latin typeface="Verdana"/>
                <a:cs typeface="Verdana"/>
              </a:rPr>
              <a:t>i</a:t>
            </a:r>
            <a:endParaRPr sz="2500" b="1" dirty="0">
              <a:solidFill>
                <a:srgbClr val="7030A0"/>
              </a:solidFill>
              <a:latin typeface="Verdana"/>
              <a:cs typeface="Verdana"/>
            </a:endParaRPr>
          </a:p>
          <a:p>
            <a:pPr marL="12700" marR="5080">
              <a:lnSpc>
                <a:spcPts val="4840"/>
              </a:lnSpc>
              <a:spcBef>
                <a:spcPts val="240"/>
              </a:spcBef>
            </a:pPr>
            <a:r>
              <a:rPr sz="2500" b="1" spc="-25" dirty="0">
                <a:solidFill>
                  <a:srgbClr val="212121"/>
                </a:solidFill>
                <a:latin typeface="Verdana"/>
                <a:cs typeface="Verdana"/>
              </a:rPr>
              <a:t>P</a:t>
            </a:r>
            <a:r>
              <a:rPr sz="2500" b="1" spc="-125" dirty="0">
                <a:solidFill>
                  <a:srgbClr val="212121"/>
                </a:solidFill>
                <a:latin typeface="Verdana"/>
                <a:cs typeface="Verdana"/>
              </a:rPr>
              <a:t>R</a:t>
            </a:r>
            <a:r>
              <a:rPr sz="2500" b="1" dirty="0">
                <a:solidFill>
                  <a:srgbClr val="212121"/>
                </a:solidFill>
                <a:latin typeface="Verdana"/>
                <a:cs typeface="Verdana"/>
              </a:rPr>
              <a:t>OB</a:t>
            </a:r>
            <a:r>
              <a:rPr sz="2500" b="1" spc="-85" dirty="0">
                <a:solidFill>
                  <a:srgbClr val="212121"/>
                </a:solidFill>
                <a:latin typeface="Verdana"/>
                <a:cs typeface="Verdana"/>
              </a:rPr>
              <a:t>L</a:t>
            </a:r>
            <a:r>
              <a:rPr sz="2500" b="1" spc="-40" dirty="0">
                <a:solidFill>
                  <a:srgbClr val="212121"/>
                </a:solidFill>
                <a:latin typeface="Verdana"/>
                <a:cs typeface="Verdana"/>
              </a:rPr>
              <a:t>E</a:t>
            </a:r>
            <a:r>
              <a:rPr sz="2500" b="1" dirty="0">
                <a:solidFill>
                  <a:srgbClr val="212121"/>
                </a:solidFill>
                <a:latin typeface="Verdana"/>
                <a:cs typeface="Verdana"/>
              </a:rPr>
              <a:t>M</a:t>
            </a:r>
            <a:r>
              <a:rPr sz="2500" b="1" spc="1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500" b="1" spc="-204" dirty="0">
                <a:solidFill>
                  <a:srgbClr val="212121"/>
                </a:solidFill>
                <a:latin typeface="Verdana"/>
                <a:cs typeface="Verdana"/>
              </a:rPr>
              <a:t>S</a:t>
            </a:r>
            <a:r>
              <a:rPr sz="2500" b="1" spc="-195" dirty="0">
                <a:solidFill>
                  <a:srgbClr val="212121"/>
                </a:solidFill>
                <a:latin typeface="Verdana"/>
                <a:cs typeface="Verdana"/>
              </a:rPr>
              <a:t>T</a:t>
            </a:r>
            <a:r>
              <a:rPr sz="2500" b="1" spc="-65" dirty="0">
                <a:solidFill>
                  <a:srgbClr val="212121"/>
                </a:solidFill>
                <a:latin typeface="Verdana"/>
                <a:cs typeface="Verdana"/>
              </a:rPr>
              <a:t>A</a:t>
            </a:r>
            <a:r>
              <a:rPr sz="2500" b="1" spc="-195" dirty="0">
                <a:solidFill>
                  <a:srgbClr val="212121"/>
                </a:solidFill>
                <a:latin typeface="Verdana"/>
                <a:cs typeface="Verdana"/>
              </a:rPr>
              <a:t>T</a:t>
            </a:r>
            <a:r>
              <a:rPr sz="2500" b="1" spc="-40" dirty="0">
                <a:solidFill>
                  <a:srgbClr val="212121"/>
                </a:solidFill>
                <a:latin typeface="Verdana"/>
                <a:cs typeface="Verdana"/>
              </a:rPr>
              <a:t>E</a:t>
            </a:r>
            <a:r>
              <a:rPr sz="2500" b="1" dirty="0">
                <a:solidFill>
                  <a:srgbClr val="212121"/>
                </a:solidFill>
                <a:latin typeface="Verdana"/>
                <a:cs typeface="Verdana"/>
              </a:rPr>
              <a:t>M</a:t>
            </a:r>
            <a:r>
              <a:rPr sz="2500" b="1" spc="-40" dirty="0">
                <a:solidFill>
                  <a:srgbClr val="212121"/>
                </a:solidFill>
                <a:latin typeface="Verdana"/>
                <a:cs typeface="Verdana"/>
              </a:rPr>
              <a:t>E</a:t>
            </a:r>
            <a:r>
              <a:rPr sz="2500" b="1" spc="-90" dirty="0">
                <a:solidFill>
                  <a:srgbClr val="212121"/>
                </a:solidFill>
                <a:latin typeface="Verdana"/>
                <a:cs typeface="Verdana"/>
              </a:rPr>
              <a:t>N</a:t>
            </a:r>
            <a:r>
              <a:rPr sz="2500" b="1" spc="-195" dirty="0">
                <a:solidFill>
                  <a:srgbClr val="212121"/>
                </a:solidFill>
                <a:latin typeface="Verdana"/>
                <a:cs typeface="Verdana"/>
              </a:rPr>
              <a:t>T</a:t>
            </a:r>
            <a:r>
              <a:rPr sz="2500" b="1" spc="-21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500" b="1" spc="-440" dirty="0">
                <a:solidFill>
                  <a:srgbClr val="212121"/>
                </a:solidFill>
                <a:latin typeface="Verdana"/>
                <a:cs typeface="Verdana"/>
              </a:rPr>
              <a:t>: </a:t>
            </a:r>
            <a:r>
              <a:rPr lang="en-US" sz="2500" b="1" spc="-4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2500" b="1" spc="-440" dirty="0">
                <a:solidFill>
                  <a:srgbClr val="7030A0"/>
                </a:solidFill>
                <a:latin typeface="Verdana"/>
                <a:cs typeface="Verdana"/>
              </a:rPr>
              <a:t>G r e </a:t>
            </a:r>
            <a:r>
              <a:rPr lang="en-US" sz="2500" b="1" spc="-440" dirty="0" err="1">
                <a:solidFill>
                  <a:srgbClr val="7030A0"/>
                </a:solidFill>
                <a:latin typeface="Verdana"/>
                <a:cs typeface="Verdana"/>
              </a:rPr>
              <a:t>e</a:t>
            </a:r>
            <a:r>
              <a:rPr lang="en-US" sz="2500" b="1" spc="-440" dirty="0">
                <a:solidFill>
                  <a:srgbClr val="7030A0"/>
                </a:solidFill>
                <a:latin typeface="Verdana"/>
                <a:cs typeface="Verdana"/>
              </a:rPr>
              <a:t> n  E n e r g y  M a n a g e m e n t</a:t>
            </a:r>
          </a:p>
          <a:p>
            <a:pPr marL="12700" marR="5080">
              <a:lnSpc>
                <a:spcPts val="4840"/>
              </a:lnSpc>
              <a:spcBef>
                <a:spcPts val="240"/>
              </a:spcBef>
            </a:pPr>
            <a:r>
              <a:rPr sz="2500" b="1" spc="-195" dirty="0">
                <a:solidFill>
                  <a:srgbClr val="212121"/>
                </a:solidFill>
                <a:latin typeface="Verdana"/>
                <a:cs typeface="Verdana"/>
              </a:rPr>
              <a:t>T</a:t>
            </a:r>
            <a:r>
              <a:rPr sz="2500" b="1" spc="-40" dirty="0">
                <a:solidFill>
                  <a:srgbClr val="212121"/>
                </a:solidFill>
                <a:latin typeface="Verdana"/>
                <a:cs typeface="Verdana"/>
              </a:rPr>
              <a:t>E</a:t>
            </a:r>
            <a:r>
              <a:rPr sz="2500" b="1" spc="-65" dirty="0">
                <a:solidFill>
                  <a:srgbClr val="212121"/>
                </a:solidFill>
                <a:latin typeface="Verdana"/>
                <a:cs typeface="Verdana"/>
              </a:rPr>
              <a:t>A</a:t>
            </a:r>
            <a:r>
              <a:rPr sz="2500" b="1" dirty="0">
                <a:solidFill>
                  <a:srgbClr val="212121"/>
                </a:solidFill>
                <a:latin typeface="Verdana"/>
                <a:cs typeface="Verdana"/>
              </a:rPr>
              <a:t>M</a:t>
            </a:r>
            <a:r>
              <a:rPr sz="2500" b="1" spc="1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500" b="1" dirty="0">
                <a:solidFill>
                  <a:srgbClr val="212121"/>
                </a:solidFill>
                <a:latin typeface="Verdana"/>
                <a:cs typeface="Verdana"/>
              </a:rPr>
              <a:t>M</a:t>
            </a:r>
            <a:r>
              <a:rPr sz="2500" b="1" spc="-40" dirty="0">
                <a:solidFill>
                  <a:srgbClr val="212121"/>
                </a:solidFill>
                <a:latin typeface="Verdana"/>
                <a:cs typeface="Verdana"/>
              </a:rPr>
              <a:t>E</a:t>
            </a:r>
            <a:r>
              <a:rPr sz="2500" b="1" dirty="0">
                <a:solidFill>
                  <a:srgbClr val="212121"/>
                </a:solidFill>
                <a:latin typeface="Verdana"/>
                <a:cs typeface="Verdana"/>
              </a:rPr>
              <a:t>MB</a:t>
            </a:r>
            <a:r>
              <a:rPr sz="2500" b="1" spc="-40" dirty="0">
                <a:solidFill>
                  <a:srgbClr val="212121"/>
                </a:solidFill>
                <a:latin typeface="Verdana"/>
                <a:cs typeface="Verdana"/>
              </a:rPr>
              <a:t>E</a:t>
            </a:r>
            <a:r>
              <a:rPr sz="2500" b="1" spc="-125" dirty="0">
                <a:solidFill>
                  <a:srgbClr val="212121"/>
                </a:solidFill>
                <a:latin typeface="Verdana"/>
                <a:cs typeface="Verdana"/>
              </a:rPr>
              <a:t>R</a:t>
            </a:r>
            <a:r>
              <a:rPr sz="2500" b="1" spc="-204" dirty="0">
                <a:solidFill>
                  <a:srgbClr val="212121"/>
                </a:solidFill>
                <a:latin typeface="Verdana"/>
                <a:cs typeface="Verdana"/>
              </a:rPr>
              <a:t>S</a:t>
            </a:r>
            <a:r>
              <a:rPr sz="2500" b="1" spc="-21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500" b="1" spc="-440" dirty="0">
                <a:solidFill>
                  <a:srgbClr val="212121"/>
                </a:solidFill>
                <a:latin typeface="Verdana"/>
                <a:cs typeface="Verdana"/>
              </a:rPr>
              <a:t>:</a:t>
            </a:r>
            <a:r>
              <a:rPr lang="en-US" sz="2500" b="1" spc="-440" dirty="0">
                <a:solidFill>
                  <a:srgbClr val="212121"/>
                </a:solidFill>
                <a:latin typeface="Verdana"/>
                <a:cs typeface="Verdana"/>
              </a:rPr>
              <a:t>  </a:t>
            </a:r>
            <a:r>
              <a:rPr lang="en-US" sz="2500" b="1" spc="-440" dirty="0">
                <a:solidFill>
                  <a:srgbClr val="7030A0"/>
                </a:solidFill>
                <a:latin typeface="Verdana"/>
                <a:cs typeface="Verdana"/>
              </a:rPr>
              <a:t>S a t y a m  K u s h w a h a ,  A y u s h  K u m a r ,  A m </a:t>
            </a:r>
            <a:r>
              <a:rPr lang="en-US" sz="2500" b="1" spc="-440" dirty="0" err="1">
                <a:solidFill>
                  <a:srgbClr val="7030A0"/>
                </a:solidFill>
                <a:latin typeface="Verdana"/>
                <a:cs typeface="Verdana"/>
              </a:rPr>
              <a:t>i</a:t>
            </a:r>
            <a:r>
              <a:rPr lang="en-US" sz="2500" b="1" spc="-440" dirty="0">
                <a:solidFill>
                  <a:srgbClr val="7030A0"/>
                </a:solidFill>
                <a:latin typeface="Verdana"/>
                <a:cs typeface="Verdana"/>
              </a:rPr>
              <a:t> t  K u m a r  M a n d a l  ,  A r p </a:t>
            </a:r>
            <a:r>
              <a:rPr lang="en-US" sz="2500" b="1" spc="-440" dirty="0" err="1">
                <a:solidFill>
                  <a:srgbClr val="7030A0"/>
                </a:solidFill>
                <a:latin typeface="Verdana"/>
                <a:cs typeface="Verdana"/>
              </a:rPr>
              <a:t>i</a:t>
            </a:r>
            <a:r>
              <a:rPr lang="en-US" sz="2500" b="1" spc="-440" dirty="0">
                <a:solidFill>
                  <a:srgbClr val="7030A0"/>
                </a:solidFill>
                <a:latin typeface="Verdana"/>
                <a:cs typeface="Verdana"/>
              </a:rPr>
              <a:t> t  </a:t>
            </a:r>
            <a:r>
              <a:rPr lang="en-US" sz="2500" b="1" spc="-440" dirty="0" err="1">
                <a:solidFill>
                  <a:srgbClr val="7030A0"/>
                </a:solidFill>
                <a:latin typeface="Verdana"/>
                <a:cs typeface="Verdana"/>
              </a:rPr>
              <a:t>T</a:t>
            </a:r>
            <a:r>
              <a:rPr lang="en-US" sz="2500" b="1" spc="-44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lang="en-US" sz="2500" b="1" spc="-440" dirty="0" err="1">
                <a:solidFill>
                  <a:srgbClr val="7030A0"/>
                </a:solidFill>
                <a:latin typeface="Verdana"/>
                <a:cs typeface="Verdana"/>
              </a:rPr>
              <a:t>i</a:t>
            </a:r>
            <a:r>
              <a:rPr lang="en-US" sz="2500" b="1" spc="-440" dirty="0">
                <a:solidFill>
                  <a:srgbClr val="7030A0"/>
                </a:solidFill>
                <a:latin typeface="Verdana"/>
                <a:cs typeface="Verdana"/>
              </a:rPr>
              <a:t> w a r </a:t>
            </a:r>
            <a:r>
              <a:rPr lang="en-US" sz="2500" b="1" spc="-440" dirty="0" err="1">
                <a:solidFill>
                  <a:srgbClr val="7030A0"/>
                </a:solidFill>
                <a:latin typeface="Verdana"/>
                <a:cs typeface="Verdana"/>
              </a:rPr>
              <a:t>i</a:t>
            </a:r>
            <a:endParaRPr sz="2500" dirty="0">
              <a:solidFill>
                <a:srgbClr val="7030A0"/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2500" b="1" dirty="0">
                <a:solidFill>
                  <a:srgbClr val="212121"/>
                </a:solidFill>
                <a:latin typeface="Verdana"/>
                <a:cs typeface="Verdana"/>
              </a:rPr>
              <a:t>CO</a:t>
            </a:r>
            <a:r>
              <a:rPr sz="2500" b="1" spc="-85" dirty="0">
                <a:solidFill>
                  <a:srgbClr val="212121"/>
                </a:solidFill>
                <a:latin typeface="Verdana"/>
                <a:cs typeface="Verdana"/>
              </a:rPr>
              <a:t>LL</a:t>
            </a:r>
            <a:r>
              <a:rPr sz="2500" b="1" spc="-40" dirty="0">
                <a:solidFill>
                  <a:srgbClr val="212121"/>
                </a:solidFill>
                <a:latin typeface="Verdana"/>
                <a:cs typeface="Verdana"/>
              </a:rPr>
              <a:t>E</a:t>
            </a:r>
            <a:r>
              <a:rPr sz="2500" b="1" spc="-90" dirty="0">
                <a:solidFill>
                  <a:srgbClr val="212121"/>
                </a:solidFill>
                <a:latin typeface="Verdana"/>
                <a:cs typeface="Verdana"/>
              </a:rPr>
              <a:t>G</a:t>
            </a:r>
            <a:r>
              <a:rPr sz="2500" b="1" spc="-40" dirty="0">
                <a:solidFill>
                  <a:srgbClr val="212121"/>
                </a:solidFill>
                <a:latin typeface="Verdana"/>
                <a:cs typeface="Verdana"/>
              </a:rPr>
              <a:t>E</a:t>
            </a:r>
            <a:r>
              <a:rPr sz="2500" b="1" spc="-22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2500" b="1" spc="-440" dirty="0">
                <a:solidFill>
                  <a:srgbClr val="212121"/>
                </a:solidFill>
                <a:latin typeface="Verdana"/>
                <a:cs typeface="Verdana"/>
              </a:rPr>
              <a:t>:</a:t>
            </a:r>
            <a:r>
              <a:rPr lang="en-US" sz="2500" b="1" spc="-440" dirty="0">
                <a:solidFill>
                  <a:srgbClr val="212121"/>
                </a:solidFill>
                <a:latin typeface="Verdana"/>
                <a:cs typeface="Verdana"/>
              </a:rPr>
              <a:t>  </a:t>
            </a:r>
            <a:r>
              <a:rPr lang="en-US" sz="2500" b="1" spc="-440" dirty="0">
                <a:solidFill>
                  <a:srgbClr val="7030A0"/>
                </a:solidFill>
                <a:latin typeface="Verdana"/>
                <a:cs typeface="Verdana"/>
              </a:rPr>
              <a:t>R o </a:t>
            </a:r>
            <a:r>
              <a:rPr lang="en-US" sz="2500" b="1" spc="-440" dirty="0" err="1">
                <a:solidFill>
                  <a:srgbClr val="7030A0"/>
                </a:solidFill>
                <a:latin typeface="Verdana"/>
                <a:cs typeface="Verdana"/>
              </a:rPr>
              <a:t>o</a:t>
            </a:r>
            <a:r>
              <a:rPr lang="en-US" sz="2500" b="1" spc="-440" dirty="0">
                <a:solidFill>
                  <a:srgbClr val="7030A0"/>
                </a:solidFill>
                <a:latin typeface="Verdana"/>
                <a:cs typeface="Verdana"/>
              </a:rPr>
              <a:t> r k e </a:t>
            </a:r>
            <a:r>
              <a:rPr lang="en-US" sz="2500" b="1" spc="-440" dirty="0" err="1">
                <a:solidFill>
                  <a:srgbClr val="7030A0"/>
                </a:solidFill>
                <a:latin typeface="Verdana"/>
                <a:cs typeface="Verdana"/>
              </a:rPr>
              <a:t>e</a:t>
            </a:r>
            <a:r>
              <a:rPr lang="en-US" sz="2500" b="1" spc="-440" dirty="0">
                <a:solidFill>
                  <a:srgbClr val="7030A0"/>
                </a:solidFill>
                <a:latin typeface="Verdana"/>
                <a:cs typeface="Verdana"/>
              </a:rPr>
              <a:t>  I n s t </a:t>
            </a:r>
            <a:r>
              <a:rPr lang="en-US" sz="2500" b="1" spc="-440" dirty="0" err="1">
                <a:solidFill>
                  <a:srgbClr val="7030A0"/>
                </a:solidFill>
                <a:latin typeface="Verdana"/>
                <a:cs typeface="Verdana"/>
              </a:rPr>
              <a:t>i</a:t>
            </a:r>
            <a:r>
              <a:rPr lang="en-US" sz="2500" b="1" spc="-440" dirty="0">
                <a:solidFill>
                  <a:srgbClr val="7030A0"/>
                </a:solidFill>
                <a:latin typeface="Verdana"/>
                <a:cs typeface="Verdana"/>
              </a:rPr>
              <a:t> t u t e  o f   T e c h n o l o g y , R o </a:t>
            </a:r>
            <a:r>
              <a:rPr lang="en-US" sz="2500" b="1" spc="-440" dirty="0" err="1">
                <a:solidFill>
                  <a:srgbClr val="7030A0"/>
                </a:solidFill>
                <a:latin typeface="Verdana"/>
                <a:cs typeface="Verdana"/>
              </a:rPr>
              <a:t>o</a:t>
            </a:r>
            <a:r>
              <a:rPr lang="en-US" sz="2500" b="1" spc="-440" dirty="0">
                <a:solidFill>
                  <a:srgbClr val="7030A0"/>
                </a:solidFill>
                <a:latin typeface="Verdana"/>
                <a:cs typeface="Verdana"/>
              </a:rPr>
              <a:t> r k e </a:t>
            </a:r>
            <a:r>
              <a:rPr lang="en-US" sz="2500" b="1" spc="-440" dirty="0" err="1">
                <a:solidFill>
                  <a:srgbClr val="7030A0"/>
                </a:solidFill>
                <a:latin typeface="Verdana"/>
                <a:cs typeface="Verdana"/>
              </a:rPr>
              <a:t>e</a:t>
            </a:r>
            <a:r>
              <a:rPr lang="en-US" sz="2500" b="1" spc="-440" dirty="0">
                <a:solidFill>
                  <a:srgbClr val="7030A0"/>
                </a:solidFill>
                <a:latin typeface="Verdana"/>
                <a:cs typeface="Verdana"/>
              </a:rPr>
              <a:t> ,  U t </a:t>
            </a:r>
            <a:r>
              <a:rPr lang="en-US" sz="2500" b="1" spc="-440" dirty="0" err="1">
                <a:solidFill>
                  <a:srgbClr val="7030A0"/>
                </a:solidFill>
                <a:latin typeface="Verdana"/>
                <a:cs typeface="Verdana"/>
              </a:rPr>
              <a:t>t</a:t>
            </a:r>
            <a:r>
              <a:rPr lang="en-US" sz="2500" b="1" spc="-440" dirty="0">
                <a:solidFill>
                  <a:srgbClr val="7030A0"/>
                </a:solidFill>
                <a:latin typeface="Verdana"/>
                <a:cs typeface="Verdana"/>
              </a:rPr>
              <a:t> r a k h n d</a:t>
            </a:r>
            <a:endParaRPr sz="2500" dirty="0">
              <a:solidFill>
                <a:srgbClr val="7030A0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672879" y="131170"/>
            <a:ext cx="16246495" cy="9715481"/>
            <a:chOff x="1869192" y="131160"/>
            <a:chExt cx="16050179" cy="971549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9192" y="131160"/>
              <a:ext cx="14758208" cy="971549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877131" y="2194519"/>
              <a:ext cx="6921500" cy="0"/>
            </a:xfrm>
            <a:custGeom>
              <a:avLst/>
              <a:gdLst/>
              <a:ahLst/>
              <a:cxnLst/>
              <a:rect l="l" t="t" r="r" b="b"/>
              <a:pathLst>
                <a:path w="6921500">
                  <a:moveTo>
                    <a:pt x="0" y="0"/>
                  </a:moveTo>
                  <a:lnTo>
                    <a:pt x="6920876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656481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15" dirty="0"/>
              <a:t>PROBLEM</a:t>
            </a:r>
            <a:r>
              <a:rPr spc="-40" dirty="0"/>
              <a:t> </a:t>
            </a:r>
            <a:r>
              <a:rPr spc="165" dirty="0"/>
              <a:t>STATEMENT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557530" y="71388"/>
            <a:ext cx="17099280" cy="9886315"/>
            <a:chOff x="557530" y="71388"/>
            <a:chExt cx="17099280" cy="9886315"/>
          </a:xfrm>
        </p:grpSpPr>
        <p:sp>
          <p:nvSpPr>
            <p:cNvPr id="9" name="object 9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भा</a:t>
            </a:r>
            <a:r>
              <a:rPr sz="1850" b="1" spc="-13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/>
                <a:cs typeface="Nirmala UI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त</a:t>
            </a:r>
            <a:r>
              <a:rPr sz="1850" b="1" spc="-10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Tahoma"/>
                <a:cs typeface="Tahoma"/>
              </a:rPr>
              <a:t>2</a:t>
            </a:r>
            <a:r>
              <a:rPr sz="1850" b="1" spc="-9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-95" dirty="0">
                <a:solidFill>
                  <a:srgbClr val="FF5C1F"/>
                </a:solidFill>
                <a:latin typeface="Tahoma"/>
                <a:cs typeface="Tahoma"/>
              </a:rPr>
              <a:t>.</a:t>
            </a:r>
            <a:r>
              <a:rPr sz="1850" b="1" spc="-10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40" dirty="0">
                <a:solidFill>
                  <a:srgbClr val="FF5C1F"/>
                </a:solidFill>
                <a:latin typeface="Tahoma"/>
                <a:cs typeface="Tahoma"/>
              </a:rPr>
              <a:t>0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D6474B-BC60-89FB-8915-D351FBE36556}"/>
              </a:ext>
            </a:extLst>
          </p:cNvPr>
          <p:cNvSpPr txBox="1"/>
          <p:nvPr/>
        </p:nvSpPr>
        <p:spPr>
          <a:xfrm>
            <a:off x="914400" y="2705412"/>
            <a:ext cx="16383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“India produces green energy, but we still lack affordable, user-level intelligence to   use it optimally.”</a:t>
            </a:r>
            <a:endParaRPr lang="en-IN" sz="30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D38287-1624-B8B9-F56C-6B10FC13C307}"/>
              </a:ext>
            </a:extLst>
          </p:cNvPr>
          <p:cNvSpPr txBox="1"/>
          <p:nvPr/>
        </p:nvSpPr>
        <p:spPr>
          <a:xfrm>
            <a:off x="914400" y="3934968"/>
            <a:ext cx="16154399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Fragmented Visibility</a:t>
            </a:r>
            <a:r>
              <a:rPr lang="en-IN" sz="2400" dirty="0"/>
              <a:t>— No real-time tracking of </a:t>
            </a:r>
            <a:r>
              <a:rPr lang="en-IN" sz="2400" b="1" dirty="0"/>
              <a:t>energy consumption</a:t>
            </a:r>
            <a:r>
              <a:rPr lang="en-IN" sz="2400" dirty="0"/>
              <a:t> or </a:t>
            </a:r>
            <a:r>
              <a:rPr lang="en-IN" sz="2400" b="1" dirty="0"/>
              <a:t>solar vs</a:t>
            </a:r>
            <a:r>
              <a:rPr lang="en-IN" sz="2400" dirty="0"/>
              <a:t> source for households,</a:t>
            </a:r>
          </a:p>
          <a:p>
            <a:r>
              <a:rPr lang="en-IN" sz="2400" dirty="0"/>
              <a:t>    societies  &amp; MSMEs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Wasted Green Energy</a:t>
            </a:r>
            <a:r>
              <a:rPr lang="en-IN" sz="2400" dirty="0"/>
              <a:t> —only </a:t>
            </a:r>
            <a:r>
              <a:rPr lang="en-IN" sz="2400" b="1" dirty="0"/>
              <a:t>small power (GW) </a:t>
            </a:r>
            <a:r>
              <a:rPr lang="en-IN" sz="2400" dirty="0"/>
              <a:t>rooftop solar potential installed - users can't monitor what they generate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High Energy Wastage</a:t>
            </a:r>
            <a:r>
              <a:rPr lang="en-IN" sz="2400" dirty="0"/>
              <a:t> — Buildings waste </a:t>
            </a:r>
            <a:r>
              <a:rPr lang="en-IN" sz="2400" b="1" dirty="0"/>
              <a:t>15–25% of electricity</a:t>
            </a:r>
            <a:r>
              <a:rPr lang="en-IN" sz="2400" dirty="0"/>
              <a:t> due to unmonitored, unoptimized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No Carbon Accountability</a:t>
            </a:r>
            <a:r>
              <a:rPr lang="en-IN" sz="2400" dirty="0"/>
              <a:t> — Grid emits </a:t>
            </a:r>
            <a:r>
              <a:rPr lang="en-IN" sz="2400" b="1" dirty="0"/>
              <a:t>0.61 - 0.71 kg₂/kWh</a:t>
            </a:r>
            <a:r>
              <a:rPr lang="en-IN" sz="2400" dirty="0"/>
              <a:t>, yet consumers have </a:t>
            </a:r>
            <a:r>
              <a:rPr lang="en-IN" sz="2400" b="1" dirty="0"/>
              <a:t>no affordable tool</a:t>
            </a:r>
            <a:r>
              <a:rPr lang="en-IN" sz="2400" dirty="0"/>
              <a:t> to measure their footprint, even as </a:t>
            </a:r>
            <a:r>
              <a:rPr lang="en-IN" sz="2400" b="1" dirty="0"/>
              <a:t>CCTS 2023</a:t>
            </a:r>
            <a:r>
              <a:rPr lang="en-IN" sz="2400" dirty="0"/>
              <a:t> makes reporting mandatory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Disconnected from Smart Grid</a:t>
            </a:r>
            <a:r>
              <a:rPr lang="en-IN" sz="2400" dirty="0"/>
              <a:t> — No </a:t>
            </a:r>
            <a:r>
              <a:rPr lang="en-IN" sz="2400" b="1" dirty="0"/>
              <a:t>Time-of-Use tariffs</a:t>
            </a:r>
            <a:r>
              <a:rPr lang="en-IN" sz="2400" dirty="0"/>
              <a:t>, no </a:t>
            </a:r>
            <a:r>
              <a:rPr lang="en-IN" sz="2400" b="1" dirty="0"/>
              <a:t>net-metering tracking</a:t>
            </a:r>
            <a:r>
              <a:rPr lang="en-IN" sz="2400" dirty="0"/>
              <a:t>, no </a:t>
            </a:r>
            <a:r>
              <a:rPr lang="en-IN" sz="2400" b="1" dirty="0"/>
              <a:t>demand-response</a:t>
            </a:r>
            <a:r>
              <a:rPr lang="en-IN" sz="2400" dirty="0"/>
              <a:t> → DISCOMs lose </a:t>
            </a:r>
            <a:r>
              <a:rPr lang="en-IN" sz="2400" b="1" dirty="0"/>
              <a:t>₹60,000+ Cr/year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Existing Solutions Are Fragmented</a:t>
            </a:r>
            <a:r>
              <a:rPr lang="en-IN" sz="2400" dirty="0"/>
              <a:t>— Enterprise EMS costs </a:t>
            </a:r>
            <a:r>
              <a:rPr lang="en-IN" sz="2400" b="1" dirty="0"/>
              <a:t>lakhs (Schneider/Siemens)</a:t>
            </a:r>
            <a:r>
              <a:rPr lang="en-IN" sz="2400" dirty="0"/>
              <a:t>, solar apps are </a:t>
            </a:r>
            <a:r>
              <a:rPr lang="en-IN" sz="2400" b="1" dirty="0"/>
              <a:t>hardware-locked (SolarEdge)</a:t>
            </a:r>
            <a:r>
              <a:rPr lang="en-IN" sz="2400" dirty="0"/>
              <a:t>, bill trackers are </a:t>
            </a:r>
            <a:r>
              <a:rPr lang="en-IN" sz="2400" b="1" dirty="0"/>
              <a:t>shallow</a:t>
            </a:r>
            <a:r>
              <a:rPr lang="en-IN" sz="2400" dirty="0"/>
              <a:t> → </a:t>
            </a:r>
            <a:r>
              <a:rPr lang="en-IN" sz="2400" b="1" dirty="0"/>
              <a:t>no affordable, unified platform exists</a:t>
            </a:r>
            <a:endParaRPr lang="en-IN" sz="2400" dirty="0"/>
          </a:p>
          <a:p>
            <a:br>
              <a:rPr lang="en-IN" sz="2400" dirty="0"/>
            </a:br>
            <a:endParaRPr lang="en-I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57530" y="71388"/>
            <a:ext cx="17362170" cy="9886315"/>
            <a:chOff x="557530" y="71388"/>
            <a:chExt cx="17362170" cy="9886315"/>
          </a:xfrm>
        </p:grpSpPr>
        <p:sp>
          <p:nvSpPr>
            <p:cNvPr id="5" name="object 5"/>
            <p:cNvSpPr/>
            <p:nvPr/>
          </p:nvSpPr>
          <p:spPr>
            <a:xfrm>
              <a:off x="5475455" y="2194520"/>
              <a:ext cx="12322810" cy="0"/>
            </a:xfrm>
            <a:custGeom>
              <a:avLst/>
              <a:gdLst/>
              <a:ahLst/>
              <a:cxnLst/>
              <a:rect l="l" t="t" r="r" b="b"/>
              <a:pathLst>
                <a:path w="12322810">
                  <a:moveTo>
                    <a:pt x="0" y="0"/>
                  </a:moveTo>
                  <a:lnTo>
                    <a:pt x="12322551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656482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भा</a:t>
            </a:r>
            <a:r>
              <a:rPr sz="1850" b="1" spc="-13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/>
                <a:cs typeface="Nirmala UI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त</a:t>
            </a:r>
            <a:r>
              <a:rPr sz="1850" b="1" spc="-10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Tahoma"/>
                <a:cs typeface="Tahoma"/>
              </a:rPr>
              <a:t>2</a:t>
            </a:r>
            <a:r>
              <a:rPr sz="1850" b="1" spc="-9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-95" dirty="0">
                <a:solidFill>
                  <a:srgbClr val="FF5C1F"/>
                </a:solidFill>
                <a:latin typeface="Tahoma"/>
                <a:cs typeface="Tahoma"/>
              </a:rPr>
              <a:t>.</a:t>
            </a:r>
            <a:r>
              <a:rPr sz="1850" b="1" spc="-10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40" dirty="0">
                <a:solidFill>
                  <a:srgbClr val="FF5C1F"/>
                </a:solidFill>
                <a:latin typeface="Tahoma"/>
                <a:cs typeface="Tahoma"/>
              </a:rPr>
              <a:t>0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709FD4-4ACC-BE74-B38A-5AF31A34214A}"/>
              </a:ext>
            </a:extLst>
          </p:cNvPr>
          <p:cNvSpPr txBox="1"/>
          <p:nvPr/>
        </p:nvSpPr>
        <p:spPr>
          <a:xfrm>
            <a:off x="990600" y="2857505"/>
            <a:ext cx="1592580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/>
              <a:t>“An </a:t>
            </a:r>
            <a:r>
              <a:rPr lang="en-IN" sz="3200" b="1" dirty="0"/>
              <a:t>AI-based energy management platform.</a:t>
            </a:r>
            <a:r>
              <a:rPr lang="en-IN" sz="3200" dirty="0"/>
              <a:t> </a:t>
            </a:r>
            <a:r>
              <a:rPr lang="en-IN" sz="3000" b="1" dirty="0"/>
              <a:t>Keep your existing solar setup. Add  intelligent monitoring, smart scheduling &amp; transparent savings - a retrofit, not a replacement“</a:t>
            </a:r>
          </a:p>
          <a:p>
            <a:endParaRPr lang="en-IN" sz="3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91AD91-C660-F7BB-20CA-75308C052389}"/>
              </a:ext>
            </a:extLst>
          </p:cNvPr>
          <p:cNvSpPr txBox="1"/>
          <p:nvPr/>
        </p:nvSpPr>
        <p:spPr>
          <a:xfrm>
            <a:off x="1219200" y="4154550"/>
            <a:ext cx="15925800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Retrofit-first</a:t>
            </a:r>
            <a:r>
              <a:rPr lang="en-IN" sz="2400" dirty="0"/>
              <a:t> — works with </a:t>
            </a:r>
            <a:r>
              <a:rPr lang="en-IN" sz="2400" b="1" dirty="0"/>
              <a:t>existing solar panels, inverters &amp; wiring</a:t>
            </a:r>
            <a:r>
              <a:rPr lang="en-IN" sz="2400" dirty="0"/>
              <a:t>; no replacement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Two connection routes:</a:t>
            </a:r>
            <a:r>
              <a:rPr lang="en-IN" sz="2400" dirty="0"/>
              <a:t> </a:t>
            </a:r>
          </a:p>
          <a:p>
            <a:pPr lvl="0"/>
            <a:r>
              <a:rPr lang="en-IN" sz="2400" b="1" dirty="0"/>
              <a:t>                      </a:t>
            </a:r>
            <a:r>
              <a:rPr lang="en-IN" sz="2200" b="1" dirty="0"/>
              <a:t>Route A:</a:t>
            </a:r>
            <a:r>
              <a:rPr lang="en-IN" sz="2200" dirty="0"/>
              <a:t> Inverter data via </a:t>
            </a:r>
            <a:r>
              <a:rPr lang="en-IN" sz="2200" b="1" dirty="0"/>
              <a:t>owner-approved API / Modbus</a:t>
            </a:r>
            <a:r>
              <a:rPr lang="en-IN" sz="2200" dirty="0"/>
              <a:t> (e.g., </a:t>
            </a:r>
            <a:r>
              <a:rPr lang="en-IN" sz="2200" b="1" dirty="0"/>
              <a:t>Fronius Solar API</a:t>
            </a:r>
            <a:r>
              <a:rPr lang="en-IN" sz="2200" dirty="0"/>
              <a:t>)</a:t>
            </a:r>
          </a:p>
          <a:p>
            <a:pPr lvl="0" algn="ctr"/>
            <a:r>
              <a:rPr lang="en-IN" sz="2200" dirty="0"/>
              <a:t> </a:t>
            </a:r>
            <a:r>
              <a:rPr lang="en-IN" sz="2200" b="1" dirty="0"/>
              <a:t>Route B:</a:t>
            </a:r>
            <a:r>
              <a:rPr lang="en-IN" sz="2200" dirty="0"/>
              <a:t> </a:t>
            </a:r>
            <a:r>
              <a:rPr lang="en-IN" sz="2200" b="1" dirty="0"/>
              <a:t>External AC energy meter + CT sensors</a:t>
            </a:r>
            <a:r>
              <a:rPr lang="en-IN" sz="2200" dirty="0"/>
              <a:t> (ESP32-based) where data is closed/missing</a:t>
            </a:r>
          </a:p>
          <a:p>
            <a:pPr lvl="0" algn="ctr"/>
            <a:endParaRPr lang="en-IN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first scheduling</a:t>
            </a:r>
            <a:r>
              <a:rPr lang="en-IN" sz="2400" dirty="0"/>
              <a:t> — not just ON/OFF toggle: </a:t>
            </a:r>
            <a:r>
              <a:rPr lang="en-IN" sz="2400" i="1" dirty="0"/>
              <a:t>"Run 30-min pump before 4 PM in solar-surplus slot"</a:t>
            </a:r>
            <a:r>
              <a:rPr lang="en-IN" sz="2400" dirty="0"/>
              <a:t> with </a:t>
            </a:r>
            <a:r>
              <a:rPr lang="en-IN" sz="2400" b="1" dirty="0"/>
              <a:t>deadlines,   runtime limits &amp; critical-load protection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Savings Receipt</a:t>
            </a:r>
            <a:r>
              <a:rPr lang="en-IN" sz="2400" dirty="0"/>
              <a:t> — every action shows </a:t>
            </a:r>
            <a:r>
              <a:rPr lang="en-IN" sz="2400" b="1" dirty="0"/>
              <a:t>measured kWh × baseline comparison = extra ₹ saved</a:t>
            </a:r>
            <a:r>
              <a:rPr lang="en-IN" sz="2400" dirty="0"/>
              <a:t> (transparent, not exaggerated)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Carbon estimate</a:t>
            </a:r>
            <a:r>
              <a:rPr lang="en-IN" sz="2400" dirty="0"/>
              <a:t> — imported kWh × </a:t>
            </a:r>
            <a:r>
              <a:rPr lang="en-IN" sz="2400" b="1" dirty="0"/>
              <a:t>CEA grid emission factor</a:t>
            </a:r>
            <a:r>
              <a:rPr lang="en-IN" sz="2400" dirty="0"/>
              <a:t>, with factor year &amp; assumptions visible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Safety-first</a:t>
            </a:r>
            <a:r>
              <a:rPr lang="en-IN" sz="2400" dirty="0"/>
              <a:t> — no meter-seal tampering, </a:t>
            </a:r>
            <a:r>
              <a:rPr lang="en-IN" sz="2400" b="1" dirty="0"/>
              <a:t>qualified electrician installation</a:t>
            </a:r>
            <a:r>
              <a:rPr lang="en-IN" sz="2400" dirty="0"/>
              <a:t>, no DIY mains switching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5" dirty="0"/>
              <a:t>FLOW</a:t>
            </a:r>
            <a:r>
              <a:rPr spc="-65" dirty="0"/>
              <a:t> </a:t>
            </a:r>
            <a:r>
              <a:rPr spc="400" dirty="0"/>
              <a:t>OF</a:t>
            </a:r>
            <a:r>
              <a:rPr spc="-60" dirty="0"/>
              <a:t> </a:t>
            </a:r>
            <a:r>
              <a:rPr spc="50" dirty="0"/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57530" y="71388"/>
            <a:ext cx="17362170" cy="9886315"/>
            <a:chOff x="557530" y="71388"/>
            <a:chExt cx="17362170" cy="9886315"/>
          </a:xfrm>
        </p:grpSpPr>
        <p:sp>
          <p:nvSpPr>
            <p:cNvPr id="5" name="object 5"/>
            <p:cNvSpPr/>
            <p:nvPr/>
          </p:nvSpPr>
          <p:spPr>
            <a:xfrm>
              <a:off x="9768736" y="2194520"/>
              <a:ext cx="8107680" cy="0"/>
            </a:xfrm>
            <a:custGeom>
              <a:avLst/>
              <a:gdLst/>
              <a:ahLst/>
              <a:cxnLst/>
              <a:rect l="l" t="t" r="r" b="b"/>
              <a:pathLst>
                <a:path w="8107680">
                  <a:moveTo>
                    <a:pt x="0" y="0"/>
                  </a:moveTo>
                  <a:lnTo>
                    <a:pt x="8107610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656482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भा</a:t>
            </a:r>
            <a:r>
              <a:rPr sz="1850" b="1" spc="-13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/>
                <a:cs typeface="Nirmala UI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त</a:t>
            </a:r>
            <a:r>
              <a:rPr sz="1850" b="1" spc="-10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Tahoma"/>
                <a:cs typeface="Tahoma"/>
              </a:rPr>
              <a:t>2</a:t>
            </a:r>
            <a:r>
              <a:rPr sz="1850" b="1" spc="-9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-95" dirty="0">
                <a:solidFill>
                  <a:srgbClr val="FF5C1F"/>
                </a:solidFill>
                <a:latin typeface="Tahoma"/>
                <a:cs typeface="Tahoma"/>
              </a:rPr>
              <a:t>.</a:t>
            </a:r>
            <a:r>
              <a:rPr sz="1850" b="1" spc="-10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40" dirty="0">
                <a:solidFill>
                  <a:srgbClr val="FF5C1F"/>
                </a:solidFill>
                <a:latin typeface="Tahoma"/>
                <a:cs typeface="Tahoma"/>
              </a:rPr>
              <a:t>0</a:t>
            </a:r>
            <a:endParaRPr sz="1850">
              <a:latin typeface="Tahoma"/>
              <a:cs typeface="Tahoma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148F854-C06C-2109-C187-40E70537FD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1" y="2590791"/>
            <a:ext cx="14173200" cy="70338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9" dirty="0"/>
              <a:t>TECH</a:t>
            </a:r>
            <a:r>
              <a:rPr spc="-65" dirty="0"/>
              <a:t> </a:t>
            </a:r>
            <a:r>
              <a:rPr spc="200" dirty="0"/>
              <a:t>STACK</a:t>
            </a:r>
          </a:p>
        </p:txBody>
      </p:sp>
      <p:sp>
        <p:nvSpPr>
          <p:cNvPr id="3" name="object 3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57530" y="71388"/>
            <a:ext cx="17362170" cy="9886315"/>
            <a:chOff x="557530" y="71388"/>
            <a:chExt cx="17362170" cy="9886315"/>
          </a:xfrm>
        </p:grpSpPr>
        <p:sp>
          <p:nvSpPr>
            <p:cNvPr id="5" name="object 5"/>
            <p:cNvSpPr/>
            <p:nvPr/>
          </p:nvSpPr>
          <p:spPr>
            <a:xfrm>
              <a:off x="6527988" y="2194520"/>
              <a:ext cx="11270615" cy="0"/>
            </a:xfrm>
            <a:custGeom>
              <a:avLst/>
              <a:gdLst/>
              <a:ahLst/>
              <a:cxnLst/>
              <a:rect l="l" t="t" r="r" b="b"/>
              <a:pathLst>
                <a:path w="11270615">
                  <a:moveTo>
                    <a:pt x="0" y="0"/>
                  </a:moveTo>
                  <a:lnTo>
                    <a:pt x="11270019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656482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भा</a:t>
            </a:r>
            <a:r>
              <a:rPr sz="1850" b="1" spc="-13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/>
                <a:cs typeface="Nirmala UI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त</a:t>
            </a:r>
            <a:r>
              <a:rPr sz="1850" b="1" spc="-10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Tahoma"/>
                <a:cs typeface="Tahoma"/>
              </a:rPr>
              <a:t>2</a:t>
            </a:r>
            <a:r>
              <a:rPr sz="1850" b="1" spc="-9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-95" dirty="0">
                <a:solidFill>
                  <a:srgbClr val="FF5C1F"/>
                </a:solidFill>
                <a:latin typeface="Tahoma"/>
                <a:cs typeface="Tahoma"/>
              </a:rPr>
              <a:t>.</a:t>
            </a:r>
            <a:r>
              <a:rPr sz="1850" b="1" spc="-10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40" dirty="0">
                <a:solidFill>
                  <a:srgbClr val="FF5C1F"/>
                </a:solidFill>
                <a:latin typeface="Tahoma"/>
                <a:cs typeface="Tahoma"/>
              </a:rPr>
              <a:t>0</a:t>
            </a:r>
            <a:endParaRPr sz="1850">
              <a:latin typeface="Tahoma"/>
              <a:cs typeface="Tahoma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8D6D352-FF27-53AB-1AC2-8F8EC5357D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2517430"/>
            <a:ext cx="14009593" cy="70831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50" spc="70" dirty="0"/>
              <a:t>UNIQUE</a:t>
            </a:r>
            <a:r>
              <a:rPr sz="5550" spc="60" dirty="0"/>
              <a:t> </a:t>
            </a:r>
            <a:r>
              <a:rPr sz="5550" dirty="0"/>
              <a:t>SELLING</a:t>
            </a:r>
            <a:r>
              <a:rPr sz="5550" spc="65" dirty="0"/>
              <a:t> </a:t>
            </a:r>
            <a:r>
              <a:rPr sz="5550" dirty="0"/>
              <a:t>PROPOSITION</a:t>
            </a:r>
            <a:r>
              <a:rPr sz="5550" spc="65" dirty="0"/>
              <a:t> </a:t>
            </a:r>
            <a:r>
              <a:rPr sz="5550" spc="-20" dirty="0"/>
              <a:t>(USP)</a:t>
            </a:r>
            <a:endParaRPr sz="5550" dirty="0"/>
          </a:p>
        </p:txBody>
      </p:sp>
      <p:sp>
        <p:nvSpPr>
          <p:cNvPr id="3" name="object 3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4919069" y="2001242"/>
            <a:ext cx="3000375" cy="262890"/>
            <a:chOff x="14919069" y="2001242"/>
            <a:chExt cx="3000375" cy="262890"/>
          </a:xfrm>
        </p:grpSpPr>
        <p:sp>
          <p:nvSpPr>
            <p:cNvPr id="5" name="object 5"/>
            <p:cNvSpPr/>
            <p:nvPr/>
          </p:nvSpPr>
          <p:spPr>
            <a:xfrm>
              <a:off x="14919069" y="2132607"/>
              <a:ext cx="2826385" cy="0"/>
            </a:xfrm>
            <a:custGeom>
              <a:avLst/>
              <a:gdLst/>
              <a:ahLst/>
              <a:cxnLst/>
              <a:rect l="l" t="t" r="r" b="b"/>
              <a:pathLst>
                <a:path w="2826384">
                  <a:moveTo>
                    <a:pt x="0" y="0"/>
                  </a:moveTo>
                  <a:lnTo>
                    <a:pt x="2825913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656481" y="2001242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57530" y="71388"/>
            <a:ext cx="17099280" cy="9886315"/>
            <a:chOff x="557530" y="71388"/>
            <a:chExt cx="17099280" cy="9886315"/>
          </a:xfrm>
        </p:grpSpPr>
        <p:sp>
          <p:nvSpPr>
            <p:cNvPr id="8" name="object 8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भा</a:t>
            </a:r>
            <a:r>
              <a:rPr sz="1850" b="1" spc="-13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/>
                <a:cs typeface="Nirmala UI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त</a:t>
            </a:r>
            <a:r>
              <a:rPr sz="1850" b="1" spc="-10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Tahoma"/>
                <a:cs typeface="Tahoma"/>
              </a:rPr>
              <a:t>2</a:t>
            </a:r>
            <a:r>
              <a:rPr sz="1850" b="1" spc="-9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-95" dirty="0">
                <a:solidFill>
                  <a:srgbClr val="FF5C1F"/>
                </a:solidFill>
                <a:latin typeface="Tahoma"/>
                <a:cs typeface="Tahoma"/>
              </a:rPr>
              <a:t>.</a:t>
            </a:r>
            <a:r>
              <a:rPr sz="1850" b="1" spc="-10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40" dirty="0">
                <a:solidFill>
                  <a:srgbClr val="FF5C1F"/>
                </a:solidFill>
                <a:latin typeface="Tahoma"/>
                <a:cs typeface="Tahoma"/>
              </a:rPr>
              <a:t>0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3B78D-72B5-8034-92F3-5E38CB5A3F29}"/>
              </a:ext>
            </a:extLst>
          </p:cNvPr>
          <p:cNvSpPr txBox="1"/>
          <p:nvPr/>
        </p:nvSpPr>
        <p:spPr>
          <a:xfrm>
            <a:off x="834815" y="2650006"/>
            <a:ext cx="167037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RETROFIT → TASK → PROOF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7A4115-1CE3-485A-9808-CEC756097E23}"/>
              </a:ext>
            </a:extLst>
          </p:cNvPr>
          <p:cNvSpPr txBox="1"/>
          <p:nvPr/>
        </p:nvSpPr>
        <p:spPr>
          <a:xfrm>
            <a:off x="834815" y="332129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/>
              <a:t>RETROFIT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ED02A9-E963-FA71-8D6E-39323296B4B0}"/>
              </a:ext>
            </a:extLst>
          </p:cNvPr>
          <p:cNvSpPr txBox="1"/>
          <p:nvPr/>
        </p:nvSpPr>
        <p:spPr>
          <a:xfrm>
            <a:off x="1001661" y="3728724"/>
            <a:ext cx="148367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Keep the existing solar setup</a:t>
            </a:r>
            <a:r>
              <a:rPr lang="en-IN" sz="2000" dirty="0"/>
              <a:t> — inverter, meter and electrical infrastructure.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Connect through </a:t>
            </a:r>
            <a:r>
              <a:rPr lang="en-IN" sz="2000" b="1" dirty="0"/>
              <a:t>supported APIs / Modbus / external metering</a:t>
            </a:r>
            <a:r>
              <a:rPr lang="en-IN" sz="2000" dirty="0"/>
              <a:t> only where required.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Eligibility-first approach:</a:t>
            </a:r>
            <a:r>
              <a:rPr lang="en-IN" sz="2000" dirty="0"/>
              <a:t> if existing equipment already provides the benefit, </a:t>
            </a:r>
            <a:r>
              <a:rPr lang="en-IN" sz="2000" b="1" dirty="0"/>
              <a:t>no unnecessary hardware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Designed for </a:t>
            </a:r>
            <a:r>
              <a:rPr lang="en-IN" sz="2000" b="1" dirty="0"/>
              <a:t>practical, affordable deployment</a:t>
            </a:r>
            <a:r>
              <a:rPr lang="en-IN" sz="2000" dirty="0"/>
              <a:t> rather than replacing the complete setup.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EE882C-FF46-3481-69E8-F5204774B764}"/>
              </a:ext>
            </a:extLst>
          </p:cNvPr>
          <p:cNvSpPr txBox="1"/>
          <p:nvPr/>
        </p:nvSpPr>
        <p:spPr>
          <a:xfrm>
            <a:off x="864123" y="5238329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/>
              <a:t>TASK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FF32FA-F799-DB2C-7B98-054790E42524}"/>
              </a:ext>
            </a:extLst>
          </p:cNvPr>
          <p:cNvSpPr txBox="1"/>
          <p:nvPr/>
        </p:nvSpPr>
        <p:spPr>
          <a:xfrm>
            <a:off x="1001662" y="5680355"/>
            <a:ext cx="160671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Convert energy insights into </a:t>
            </a:r>
            <a:r>
              <a:rPr lang="en-IN" sz="2000" b="1" dirty="0"/>
              <a:t>useful actions</a:t>
            </a:r>
            <a:r>
              <a:rPr lang="en-IN" sz="2000" dirty="0"/>
              <a:t>, not just dashboards.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Schedule </a:t>
            </a:r>
            <a:r>
              <a:rPr lang="en-IN" sz="2000" b="1" dirty="0"/>
              <a:t>flexible loads</a:t>
            </a:r>
            <a:r>
              <a:rPr lang="en-IN" sz="2000" dirty="0"/>
              <a:t> such as pumps, EV charging or other eligible tasks.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Consider </a:t>
            </a:r>
            <a:r>
              <a:rPr lang="en-IN" sz="2000" b="1" dirty="0"/>
              <a:t>solar availability + tariff + deadline + runtime + user preference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Critical loads remain protected</a:t>
            </a:r>
            <a:r>
              <a:rPr lang="en-IN" sz="2000" dirty="0"/>
              <a:t> and every automated action requires authorization.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710D48-50CF-86DF-8404-D4046037DECA}"/>
              </a:ext>
            </a:extLst>
          </p:cNvPr>
          <p:cNvSpPr txBox="1"/>
          <p:nvPr/>
        </p:nvSpPr>
        <p:spPr>
          <a:xfrm>
            <a:off x="822116" y="7155366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/>
              <a:t>PROOF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C78E99-AB3A-F775-B758-A916A6551476}"/>
              </a:ext>
            </a:extLst>
          </p:cNvPr>
          <p:cNvSpPr txBox="1"/>
          <p:nvPr/>
        </p:nvSpPr>
        <p:spPr>
          <a:xfrm>
            <a:off x="1058680" y="7615590"/>
            <a:ext cx="160101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Measure → Compare → Verify → Report.</a:t>
            </a:r>
            <a:r>
              <a:rPr lang="en-IN" sz="2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Compare the optimized task against a </a:t>
            </a:r>
            <a:r>
              <a:rPr lang="en-IN" sz="2000" b="1" dirty="0"/>
              <a:t>defined, comparable baseline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Generate a </a:t>
            </a:r>
            <a:r>
              <a:rPr lang="en-IN" sz="2000" b="1" dirty="0"/>
              <a:t>Savings Receipt</a:t>
            </a:r>
            <a:r>
              <a:rPr lang="en-IN" sz="2000" dirty="0"/>
              <a:t> showing measured energy, estimated ₹ benefit and CO₂ impact.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Only </a:t>
            </a:r>
            <a:r>
              <a:rPr lang="en-IN" sz="2000" b="1" dirty="0"/>
              <a:t>verified outcomes</a:t>
            </a:r>
            <a:r>
              <a:rPr lang="en-IN" sz="2000" dirty="0"/>
              <a:t> become inputs for the next optimization cycle.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81C27F-D33B-E7DC-E673-46744C22C7D7}"/>
              </a:ext>
            </a:extLst>
          </p:cNvPr>
          <p:cNvSpPr txBox="1"/>
          <p:nvPr/>
        </p:nvSpPr>
        <p:spPr>
          <a:xfrm>
            <a:off x="5334000" y="9086974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Safe • User-approved • Rules-first • Measured • Transparent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FEASIBILITY</a:t>
            </a:r>
            <a:r>
              <a:rPr spc="-240" dirty="0"/>
              <a:t> </a:t>
            </a:r>
            <a:r>
              <a:rPr spc="-350" dirty="0"/>
              <a:t>&amp;</a:t>
            </a:r>
            <a:r>
              <a:rPr spc="-114" dirty="0"/>
              <a:t> </a:t>
            </a:r>
            <a:r>
              <a:rPr spc="110" dirty="0"/>
              <a:t>COMPETITORS</a:t>
            </a:r>
          </a:p>
        </p:txBody>
      </p:sp>
      <p:sp>
        <p:nvSpPr>
          <p:cNvPr id="3" name="object 3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57530" y="71388"/>
            <a:ext cx="17362170" cy="9886315"/>
            <a:chOff x="557530" y="71388"/>
            <a:chExt cx="17362170" cy="9886315"/>
          </a:xfrm>
        </p:grpSpPr>
        <p:sp>
          <p:nvSpPr>
            <p:cNvPr id="5" name="object 5"/>
            <p:cNvSpPr/>
            <p:nvPr/>
          </p:nvSpPr>
          <p:spPr>
            <a:xfrm>
              <a:off x="13359518" y="2194520"/>
              <a:ext cx="4438650" cy="0"/>
            </a:xfrm>
            <a:custGeom>
              <a:avLst/>
              <a:gdLst/>
              <a:ahLst/>
              <a:cxnLst/>
              <a:rect l="l" t="t" r="r" b="b"/>
              <a:pathLst>
                <a:path w="4438650">
                  <a:moveTo>
                    <a:pt x="0" y="0"/>
                  </a:moveTo>
                  <a:lnTo>
                    <a:pt x="4438488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656482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भा</a:t>
            </a:r>
            <a:r>
              <a:rPr sz="1850" b="1" spc="-13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/>
                <a:cs typeface="Nirmala UI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त</a:t>
            </a:r>
            <a:r>
              <a:rPr sz="1850" b="1" spc="-10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Tahoma"/>
                <a:cs typeface="Tahoma"/>
              </a:rPr>
              <a:t>2</a:t>
            </a:r>
            <a:r>
              <a:rPr sz="1850" b="1" spc="-9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-95" dirty="0">
                <a:solidFill>
                  <a:srgbClr val="FF5C1F"/>
                </a:solidFill>
                <a:latin typeface="Tahoma"/>
                <a:cs typeface="Tahoma"/>
              </a:rPr>
              <a:t>.</a:t>
            </a:r>
            <a:r>
              <a:rPr sz="1850" b="1" spc="-10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40" dirty="0">
                <a:solidFill>
                  <a:srgbClr val="FF5C1F"/>
                </a:solidFill>
                <a:latin typeface="Tahoma"/>
                <a:cs typeface="Tahoma"/>
              </a:rPr>
              <a:t>0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C1CDE7-3C98-5CD3-AC5C-7FCA42185191}"/>
              </a:ext>
            </a:extLst>
          </p:cNvPr>
          <p:cNvSpPr txBox="1"/>
          <p:nvPr/>
        </p:nvSpPr>
        <p:spPr>
          <a:xfrm>
            <a:off x="834816" y="2667312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u="sng" dirty="0"/>
              <a:t>FEASIBILITY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A4362D-6F98-2C41-6D43-4DC093CB1E2C}"/>
              </a:ext>
            </a:extLst>
          </p:cNvPr>
          <p:cNvSpPr txBox="1"/>
          <p:nvPr/>
        </p:nvSpPr>
        <p:spPr>
          <a:xfrm>
            <a:off x="990599" y="3237107"/>
            <a:ext cx="1654800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Prototype — HIGH:</a:t>
            </a:r>
            <a:r>
              <a:rPr lang="en-IN" sz="2000" dirty="0"/>
              <a:t> ESP32, safe DC sensor/load, MQTT/HTTPS, </a:t>
            </a:r>
            <a:r>
              <a:rPr lang="en-IN" sz="2000" dirty="0" err="1"/>
              <a:t>FastAPI</a:t>
            </a:r>
            <a:r>
              <a:rPr lang="en-IN" sz="2000" dirty="0"/>
              <a:t>, SQLite/PostgreSQL, React dashboard, rule-based scheduler, simulated solar/tariff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Pilot — MEDIUM/HIGH:</a:t>
            </a:r>
            <a:r>
              <a:rPr lang="en-IN" sz="2000" dirty="0"/>
              <a:t> Needs compatible inverter/meter, qualified electrician, certified metering, rated actuator, real tariff data, security review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Universal Commercial Deployment — NOT YET PROVEN:</a:t>
            </a:r>
            <a:r>
              <a:rPr lang="en-IN" sz="2000" dirty="0"/>
              <a:t> Multi-manufacturer compatibility, long-term reliability, real-home trials, utility integration, large-scale validation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561D6C-965C-6D37-5DB1-E5D8309D65EE}"/>
              </a:ext>
            </a:extLst>
          </p:cNvPr>
          <p:cNvSpPr txBox="1"/>
          <p:nvPr/>
        </p:nvSpPr>
        <p:spPr>
          <a:xfrm>
            <a:off x="749395" y="4983332"/>
            <a:ext cx="9229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u="sng" spc="110" dirty="0"/>
              <a:t>COMPETITORS</a:t>
            </a:r>
            <a:endParaRPr lang="en-IN" sz="3600" b="1" u="sng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692398-57B7-852F-B42D-73CA6E7770D5}"/>
              </a:ext>
            </a:extLst>
          </p:cNvPr>
          <p:cNvSpPr txBox="1"/>
          <p:nvPr/>
        </p:nvSpPr>
        <p:spPr>
          <a:xfrm>
            <a:off x="834816" y="5544682"/>
            <a:ext cx="162339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SolarEdge ONE</a:t>
            </a:r>
            <a:r>
              <a:rPr lang="en-IN" sz="2000" dirty="0"/>
              <a:t> — AI-powered </a:t>
            </a:r>
            <a:r>
              <a:rPr lang="en-IN" sz="2000" b="1" dirty="0"/>
              <a:t>energy optimization within the SolarEdge ecosystem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Schneider Wiser</a:t>
            </a:r>
            <a:r>
              <a:rPr lang="en-IN" sz="2000" dirty="0"/>
              <a:t> — Smart-home </a:t>
            </a:r>
            <a:r>
              <a:rPr lang="en-IN" sz="2000" b="1" dirty="0"/>
              <a:t>energy monitoring, control &amp; predictive scheduling</a:t>
            </a:r>
            <a:r>
              <a:rPr lang="en-IN" sz="2000" dirty="0"/>
              <a:t> for supported devices.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Shelly</a:t>
            </a:r>
            <a:r>
              <a:rPr lang="en-IN" sz="2000" dirty="0"/>
              <a:t> — </a:t>
            </a:r>
            <a:r>
              <a:rPr lang="en-IN" sz="2000" b="1" dirty="0"/>
              <a:t>Energy metering + connectivity + device control</a:t>
            </a:r>
            <a:r>
              <a:rPr lang="en-IN" sz="2000" dirty="0"/>
              <a:t> through supported hardware.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Inverter Apps</a:t>
            </a:r>
            <a:r>
              <a:rPr lang="en-IN" sz="2000" dirty="0"/>
              <a:t> — Primarily provide </a:t>
            </a:r>
            <a:r>
              <a:rPr lang="en-IN" sz="2000" b="1" dirty="0"/>
              <a:t>solar generation, consumption &amp; system monitoring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Smart Energy Meters</a:t>
            </a:r>
            <a:r>
              <a:rPr lang="en-IN" sz="2000" dirty="0"/>
              <a:t> — Provide </a:t>
            </a:r>
            <a:r>
              <a:rPr lang="en-IN" sz="2000" b="1" dirty="0"/>
              <a:t>real-time energy measurement and visibility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Manual Scheduling</a:t>
            </a:r>
            <a:r>
              <a:rPr lang="en-IN" sz="2000" dirty="0"/>
              <a:t> — Relies on </a:t>
            </a:r>
            <a:r>
              <a:rPr lang="en-IN" sz="2000" b="1" dirty="0"/>
              <a:t>user decisions without automated optimization or verified savings</a:t>
            </a:r>
            <a:r>
              <a:rPr lang="en-IN" sz="2000" dirty="0"/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F3D5F6-3BA1-B2DE-88A9-03A0452EF203}"/>
              </a:ext>
            </a:extLst>
          </p:cNvPr>
          <p:cNvSpPr txBox="1"/>
          <p:nvPr/>
        </p:nvSpPr>
        <p:spPr>
          <a:xfrm>
            <a:off x="834816" y="7383440"/>
            <a:ext cx="162229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/>
              <a:t>UrjaSetu</a:t>
            </a:r>
          </a:p>
          <a:p>
            <a:pPr>
              <a:buNone/>
            </a:pPr>
            <a:r>
              <a:rPr lang="en-IN" sz="2000" b="1" dirty="0"/>
              <a:t>Retrofit existing infrastructure → Schedule useful tasks → Safely execute → Verify → Generate a Savings Receipt.</a:t>
            </a:r>
            <a:endParaRPr lang="en-IN" sz="2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2674BB-EB4F-6E0E-C205-32266A477D92}"/>
              </a:ext>
            </a:extLst>
          </p:cNvPr>
          <p:cNvSpPr txBox="1"/>
          <p:nvPr/>
        </p:nvSpPr>
        <p:spPr>
          <a:xfrm>
            <a:off x="2743200" y="8630770"/>
            <a:ext cx="130951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“Existing solutions monitor, measure or optimize; UrjaSetu connects these capabilities into a user-approved, task-focused and proof-based workflow.”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089949" y="0"/>
            <a:ext cx="13829665" cy="10287000"/>
            <a:chOff x="4089949" y="0"/>
            <a:chExt cx="13829665" cy="1028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89949" y="0"/>
              <a:ext cx="10286999" cy="10286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850227" y="2194519"/>
              <a:ext cx="5948045" cy="0"/>
            </a:xfrm>
            <a:custGeom>
              <a:avLst/>
              <a:gdLst/>
              <a:ahLst/>
              <a:cxnLst/>
              <a:rect l="l" t="t" r="r" b="b"/>
              <a:pathLst>
                <a:path w="5948044">
                  <a:moveTo>
                    <a:pt x="0" y="0"/>
                  </a:moveTo>
                  <a:lnTo>
                    <a:pt x="5947780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656481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0" dirty="0"/>
              <a:t>RESEARCH</a:t>
            </a:r>
            <a:r>
              <a:rPr spc="-55" dirty="0"/>
              <a:t> </a:t>
            </a:r>
            <a:r>
              <a:rPr spc="-350" dirty="0"/>
              <a:t>&amp;</a:t>
            </a:r>
            <a:r>
              <a:rPr spc="-50" dirty="0"/>
              <a:t> </a:t>
            </a:r>
            <a:r>
              <a:rPr spc="240" dirty="0"/>
              <a:t>REFERENCE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557530" y="71388"/>
            <a:ext cx="17099280" cy="9886315"/>
            <a:chOff x="557530" y="71388"/>
            <a:chExt cx="17099280" cy="9886315"/>
          </a:xfrm>
        </p:grpSpPr>
        <p:sp>
          <p:nvSpPr>
            <p:cNvPr id="9" name="object 9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0" dirty="0"/>
              <a:t> </a:t>
            </a:r>
            <a:r>
              <a:rPr spc="-30" dirty="0"/>
              <a:t>U</a:t>
            </a:r>
            <a:r>
              <a:rPr spc="-160" dirty="0"/>
              <a:t> </a:t>
            </a:r>
            <a:r>
              <a:rPr spc="-420" dirty="0"/>
              <a:t>I</a:t>
            </a:r>
            <a:r>
              <a:rPr spc="-160" dirty="0"/>
              <a:t> </a:t>
            </a:r>
            <a:r>
              <a:rPr spc="-65" dirty="0"/>
              <a:t>L</a:t>
            </a:r>
            <a:r>
              <a:rPr spc="-155" dirty="0"/>
              <a:t> </a:t>
            </a:r>
            <a:r>
              <a:rPr spc="-50" dirty="0"/>
              <a:t>D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W</a:t>
            </a:r>
            <a:r>
              <a:rPr spc="-180" dirty="0"/>
              <a:t> </a:t>
            </a:r>
            <a:r>
              <a:rPr spc="-420" dirty="0"/>
              <a:t>I</a:t>
            </a:r>
            <a:r>
              <a:rPr spc="-150" dirty="0"/>
              <a:t> </a:t>
            </a:r>
            <a:r>
              <a:rPr spc="-145" dirty="0"/>
              <a:t>T </a:t>
            </a:r>
            <a:r>
              <a:rPr spc="-50" dirty="0"/>
              <a:t>H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भा</a:t>
            </a:r>
            <a:r>
              <a:rPr sz="1850" b="1" spc="-13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/>
                <a:cs typeface="Nirmala UI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/>
                <a:cs typeface="Nirmala UI"/>
              </a:rPr>
              <a:t>त</a:t>
            </a:r>
            <a:r>
              <a:rPr sz="1850" b="1" spc="-100" dirty="0">
                <a:solidFill>
                  <a:srgbClr val="FF5C1F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FF5C1F"/>
                </a:solidFill>
                <a:latin typeface="Tahoma"/>
                <a:cs typeface="Tahoma"/>
              </a:rPr>
              <a:t>2</a:t>
            </a:r>
            <a:r>
              <a:rPr sz="1850" b="1" spc="-9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-95" dirty="0">
                <a:solidFill>
                  <a:srgbClr val="FF5C1F"/>
                </a:solidFill>
                <a:latin typeface="Tahoma"/>
                <a:cs typeface="Tahoma"/>
              </a:rPr>
              <a:t>.</a:t>
            </a:r>
            <a:r>
              <a:rPr sz="1850" b="1" spc="-100" dirty="0">
                <a:solidFill>
                  <a:srgbClr val="FF5C1F"/>
                </a:solidFill>
                <a:latin typeface="Tahoma"/>
                <a:cs typeface="Tahoma"/>
              </a:rPr>
              <a:t> </a:t>
            </a:r>
            <a:r>
              <a:rPr sz="1850" b="1" spc="40" dirty="0">
                <a:solidFill>
                  <a:srgbClr val="FF5C1F"/>
                </a:solidFill>
                <a:latin typeface="Tahoma"/>
                <a:cs typeface="Tahoma"/>
              </a:rPr>
              <a:t>0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D3E333-B197-F6CB-3475-8A3E059BC327}"/>
              </a:ext>
            </a:extLst>
          </p:cNvPr>
          <p:cNvSpPr txBox="1"/>
          <p:nvPr/>
        </p:nvSpPr>
        <p:spPr>
          <a:xfrm>
            <a:off x="967335" y="2499376"/>
            <a:ext cx="9676397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SolarEdge ONE</a:t>
            </a:r>
            <a:r>
              <a:rPr lang="en-IN" sz="2400" dirty="0"/>
              <a:t> — AI-based energy optimization and personalized energy planning.→ </a:t>
            </a:r>
            <a:r>
              <a:rPr lang="en-IN" sz="2400" dirty="0">
                <a:hlinkClick r:id="rId6"/>
              </a:rPr>
              <a:t>solaredge.com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Schneider Wiser</a:t>
            </a:r>
            <a:r>
              <a:rPr lang="en-IN" sz="2400" dirty="0"/>
              <a:t> — Home energy monitoring, control and AI-powered optimization for supported devices.→ </a:t>
            </a:r>
            <a:r>
              <a:rPr lang="en-IN" sz="2400" dirty="0">
                <a:hlinkClick r:id="rId7"/>
              </a:rPr>
              <a:t>se.com press release</a:t>
            </a:r>
            <a:r>
              <a:rPr lang="en-IN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Fronius Solar API</a:t>
            </a:r>
            <a:r>
              <a:rPr lang="en-IN" sz="2400" dirty="0"/>
              <a:t> — Official REST/JSON inverter-data access → </a:t>
            </a:r>
            <a:r>
              <a:rPr lang="en-IN" sz="2400" dirty="0">
                <a:hlinkClick r:id="rId8"/>
              </a:rPr>
              <a:t>fronius.com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Shelly Pro EM-50</a:t>
            </a:r>
            <a:r>
              <a:rPr lang="en-IN" sz="2400" dirty="0"/>
              <a:t> — Energy metering + connectivity + contactor-control capability.→ </a:t>
            </a:r>
            <a:r>
              <a:rPr lang="en-IN" sz="2400" dirty="0">
                <a:hlinkClick r:id="rId9"/>
              </a:rPr>
              <a:t>shelly.com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 err="1"/>
              <a:t>Espressif</a:t>
            </a:r>
            <a:r>
              <a:rPr lang="en-IN" sz="2400" b="1" dirty="0"/>
              <a:t> ESP-MQTT</a:t>
            </a:r>
            <a:r>
              <a:rPr lang="en-IN" sz="2400" dirty="0"/>
              <a:t> — MQTT 5, TLS, auth, QoS, mutual TLS on ESP32 → </a:t>
            </a:r>
            <a:r>
              <a:rPr lang="en-IN" sz="2400" dirty="0">
                <a:hlinkClick r:id="rId10"/>
              </a:rPr>
              <a:t>docs.espressif.com</a:t>
            </a:r>
            <a:endParaRPr lang="en-IN" sz="2400" dirty="0"/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CEA CO₂ Baseline Database v21.0</a:t>
            </a:r>
            <a:r>
              <a:rPr lang="en-IN" sz="2400" dirty="0"/>
              <a:t> — Grid emission factor source → </a:t>
            </a:r>
            <a:r>
              <a:rPr lang="en-IN" sz="2400" dirty="0">
                <a:hlinkClick r:id="rId11"/>
              </a:rPr>
              <a:t>cea.nic.in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 err="1"/>
              <a:t>Github</a:t>
            </a:r>
            <a:r>
              <a:rPr lang="en-IN" sz="2400" b="1" dirty="0"/>
              <a:t> Repo Link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Prototype Link :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A75D170-BB37-5BFC-0752-8130731CE3F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27" y="2311230"/>
            <a:ext cx="4318750" cy="305382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295CF80-3EFF-2354-1638-31690D04258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7909" y="7039223"/>
            <a:ext cx="3295888" cy="272411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FEEAAEA-8F9C-CD38-8853-60BD6BAF953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3797" y="5365056"/>
            <a:ext cx="4905083" cy="26107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680</TotalTime>
  <Words>1153</Words>
  <Application>Microsoft Office PowerPoint</Application>
  <PresentationFormat>Custom</PresentationFormat>
  <Paragraphs>108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Nirmala UI</vt:lpstr>
      <vt:lpstr>Tahoma</vt:lpstr>
      <vt:lpstr>Verdana</vt:lpstr>
      <vt:lpstr>Office Theme</vt:lpstr>
      <vt:lpstr>BUILD</vt:lpstr>
      <vt:lpstr>PROBLEM STATEMENT</vt:lpstr>
      <vt:lpstr>SOLUTION</vt:lpstr>
      <vt:lpstr>FLOW OF SOLUTION</vt:lpstr>
      <vt:lpstr>TECH STACK</vt:lpstr>
      <vt:lpstr>UNIQUE SELLING PROPOSITION (USP)</vt:lpstr>
      <vt:lpstr>FEASIBILITY &amp; COMPETITORS</vt:lpstr>
      <vt:lpstr>RESEARCH &amp; 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with Bharat 2.0  PPT Template</dc:title>
  <dc:creator>Astitva Mishra</dc:creator>
  <cp:keywords>DAHPihDBEhA,BAGWooMjBTU</cp:keywords>
  <cp:lastModifiedBy>RAMAN KUMAR TIWARI</cp:lastModifiedBy>
  <cp:revision>3</cp:revision>
  <dcterms:created xsi:type="dcterms:W3CDTF">2026-08-30T15:03:02Z</dcterms:created>
  <dcterms:modified xsi:type="dcterms:W3CDTF">2026-08-31T02:25:07Z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2026-07-16T00:00:00Z</vt:filetime>
  </property>
  <property fmtid="{D5CDD505-2E9C-101B-9397-08002B2CF9AE}" pid="4" name="Creator">
    <vt:lpwstr>Canva</vt:lpwstr>
  </property>
  <property fmtid="{D5CDD505-2E9C-101B-9397-08002B2CF9AE}" pid="5" name="LastSaved">
    <vt:filetime>2026-08-30T00:00:00Z</vt:filetime>
  </property>
  <property fmtid="{D5CDD505-2E9C-101B-9397-08002B2CF9AE}" pid="6" name="Producer">
    <vt:lpwstr>Canva</vt:lpwstr>
  </property>
</Properties>
</file>